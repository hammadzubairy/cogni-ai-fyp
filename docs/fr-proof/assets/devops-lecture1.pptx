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16" autoAdjust="0"/>
    <p:restoredTop sz="70496" autoAdjust="0"/>
  </p:normalViewPr>
  <p:slideViewPr>
    <p:cSldViewPr snapToGrid="0" snapToObjects="1">
      <p:cViewPr varScale="1">
        <p:scale>
          <a:sx n="45" d="100"/>
          <a:sy n="45" d="100"/>
        </p:scale>
        <p:origin x="1794" y="6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919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CLOUD COMPUTING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76123" y="3611881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Your Data Actually Live?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YOUR INSTRUCTOR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Shireen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6233A"/>
                </a:solidFill>
              </a:rPr>
              <a:t>MSc Computer Science — FAST NUCES, Karachi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i="1" dirty="0">
                <a:solidFill>
                  <a:srgbClr val="6E8091"/>
                </a:solidFill>
              </a:rPr>
              <a:t>Gold Medalist · 3.98 / 4.00 GPA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6233A"/>
                </a:solidFill>
              </a:rPr>
              <a:t>BSc Computer Science — Sukkur IBA University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i="1" dirty="0">
                <a:solidFill>
                  <a:srgbClr val="6E8091"/>
                </a:solidFill>
              </a:rPr>
              <a:t>Gold Medalist · Four-Year Merit Scholarship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011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6060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6233A"/>
                </a:solidFill>
              </a:rPr>
              <a:t>Senior Frontend Engineer — Retrocausal Inc.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6E8091"/>
                </a:solidFill>
              </a:rPr>
              <a:t>Building AI-assisted industrial platforms (Kaizen Copilot, Assembly Copilot) with Vue.js, TypeScript &amp; Pinia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6233A"/>
                </a:solidFill>
              </a:rPr>
              <a:t>Software / Frontend Engineer — Teresol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6E8091"/>
                </a:solidFill>
              </a:rPr>
              <a:t>Prior industry experience in software engineering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08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Intuition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 save a photo on your phone and it backs up automatically. Where does it actually go?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travels over the internet to a data center: a warehouse full of servers, often thousands of miles away. Not just "the phone company."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ever run out of storage on your phone or laptop? What did you do about it?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people delete files or buy more local storage. Cloud storage solves this differently, it rents you space on someone else's server instead.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 think Netflix has one giant computer playing every video, or something else?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else, thousands of servers spread across the world (running on AWS), so no single machine ever gets overloaded.</a:t>
            </a:r>
            <a:endParaRPr lang="en-US"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your phone got stolen right now, would you lose your WhatsApp chats?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Mostly no. Chats are usually backed up to cloud storage (Google Drive / iCloud), so they survive even if the device doesn't.</a:t>
            </a:r>
            <a:endParaRPr lang="en-US" sz="2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 use Google Docs with a friend and see them typing in real time, how does that work?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both editing the same file, stored on Google's servers. Every keystroke syncs instantly over the internet.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you rather own a car outright, or use Uber your whole life?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Owning = fixed cost and full control, like your own server. Uber = pay-per-use, like cloud computing, no maintenance headache.</a:t>
            </a:r>
            <a:endParaRPr lang="en-US" sz="2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 know where the nearest major data center to Lahore might be?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of now, there's no major hyperscale region physically inside Pakistan, traffic is usually routed to nearby regions like the UAE, Singapore, or Europe.</a:t>
            </a:r>
            <a:endParaRPr lang="en-US" sz="2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ever seen a "500 Internal Server Error"? What do you think a "server" actually is?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server is just a computer that stays on 24/7, waiting to respond to requests. A 500 error means something broke on that computer's side.</a:t>
            </a:r>
            <a:endParaRPr lang="en-US" sz="2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school's attendance app suddenly needed to handle 10x more students overnight, what happens?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elasticity, it likely slows down or crashes. Cloud platforms can auto-scale, adding more server capacity on demand.</a:t>
            </a:r>
            <a:endParaRPr lang="en-US" sz="2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 think a small personal blog and Instagram use the same kind of computer setup?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A blog might run on one small server. Instagram runs on massive, distributed infrastructure across many data centers.</a:t>
            </a:r>
            <a:endParaRPr lang="en-US" sz="2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ever used a free tier of AWS, Azure, or Google Cloud? What did you try?</a:t>
            </a:r>
            <a:endParaRPr lang="en-US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dirty="0">
                <a:solidFill>
                  <a:schemeClr val="bg1"/>
                </a:solidFill>
              </a:rPr>
              <a:t>All three offer a free tier built exactly for this kind of hands-on exploration.</a:t>
            </a:r>
          </a:p>
          <a:p>
            <a:r>
              <a:rPr lang="en-US" sz="2800" dirty="0">
                <a:solidFill>
                  <a:schemeClr val="bg1"/>
                </a:solidFill>
              </a:rPr>
              <a:t>AWS Free Tier Azure's free account credit, and Google Cloud's free tier all let you spin up a small VM, try some storage, or test a database without paying</a:t>
            </a:r>
            <a:endParaRPr lang="en-US" sz="2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"the cloud" one location, or many?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Many. Providers run multiple data centers across countries, organized into what they call "regions" and "availability zones."</a:t>
            </a:r>
            <a:endParaRPr lang="en-US" sz="2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85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an app updates on your phone automatically who decided to push that update?</a:t>
            </a:r>
            <a:endParaRPr 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developer uploads the new version to app-store / cloud servers. Your phone checks in and downloads it automatically.</a:t>
            </a:r>
            <a:endParaRPr lang="en-US" sz="2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heard the term "downtime"? What do you think causes a website to go down?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Downtime means the service is unavailable caused by server crashes, traffic overload, software bugs, or network failures.</a:t>
            </a:r>
            <a:endParaRPr lang="en-US" sz="2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were building an app today, would you buy your own server or rent from a cloud provider?</a:t>
            </a:r>
            <a:endParaRPr 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modern teams rent. Lower upfront cost, easier scaling, and no hardware to maintain yourself.</a:t>
            </a:r>
            <a:endParaRPr lang="en-US" sz="2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millions of people stream a live cricket match online at the same moment?</a:t>
            </a:r>
            <a:endParaRPr 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Delivery Networks (CDNs) and load balancers spread the traffic across many servers close to viewers, so no single one is overloaded.</a:t>
            </a:r>
            <a:endParaRPr lang="en-US" sz="2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used Google Drive or Dropbox? What do you like about it?</a:t>
            </a:r>
            <a:endParaRPr lang="en-US" sz="3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are classic cloud storage: accessible from any device, backed up automatically, and instantly shareable.</a:t>
            </a:r>
            <a:endParaRPr lang="en-US" sz="2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an app shows "we're experiencing high traffic"  what's happening behind the scenes?</a:t>
            </a:r>
            <a:endParaRPr lang="en-US" sz="3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exceeding current server capacity. Engineers (or the system itself) are scaling up resources to catch up.</a:t>
            </a:r>
            <a:endParaRPr lang="en-US" sz="2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small startup, is it cheaper to build your own data center or rent cloud servers?</a:t>
            </a:r>
            <a:endParaRPr lang="en-US" sz="3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Renting, almost always. Building a data center needs huge capital, expert staff, and constant upkeep.</a:t>
            </a:r>
            <a:endParaRPr lang="en-US" sz="2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noticed some websites feel "faster" depending on where you are? Why might that be?</a:t>
            </a:r>
            <a:endParaRPr lang="en-US" sz="3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is often served from a data center geographically closer to you, via a CDN, which cuts down travel time (latency).</a:t>
            </a:r>
            <a:endParaRPr lang="en-US" sz="2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think "pay-as-you-go" means in computing?</a:t>
            </a:r>
            <a:endParaRPr lang="en-US" sz="3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billed only for what you actually use, like electricity instead of a fixed cost no matter how much you use.</a:t>
            </a:r>
            <a:endParaRPr lang="en-US" sz="2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company wants to launch its app in a new country tomorrow, how might the cloud help?</a:t>
            </a:r>
            <a:endParaRPr lang="en-US" sz="3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can deploy on servers in a data center region near that country almost instantly, no need to physically build anything there.</a:t>
            </a:r>
            <a:endParaRPr lang="en-US" sz="2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heard of AWS, Azure, or Google Cloud? What do you associate with them?</a:t>
            </a:r>
            <a:endParaRPr lang="en-US" sz="3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They're the three biggest cloud providers, renting out computing power, storage, and services to businesses worldwide.</a:t>
            </a:r>
            <a:endParaRPr lang="en-US" sz="2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run a game server for friends, would you keep your PC on all day, or use a cloud service?</a:t>
            </a:r>
            <a:endParaRPr lang="en-US" sz="3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gamers now rent a cloud/game server, always-on reliability, without tying up your own PC or home internet.</a:t>
            </a:r>
            <a:endParaRPr lang="en-US" sz="2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word, what do you imagine "DevOps" means, just from hearing the term?</a:t>
            </a:r>
            <a:endParaRPr lang="en-US" sz="3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+ Operations: a mindset and set of practices for teams to build and run software fast, reliably, and continuously. We'll unpack this all semester.</a:t>
            </a:r>
            <a:endParaRPr lang="en-US" sz="2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389120" cy="438912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 — Core Concepts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· Essential Characteristics · Service Models · Deployment Models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554480"/>
            <a:ext cx="3840480" cy="384048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Cloud Computing?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78308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“On-demand delivery of computing power, storage, and applications over the internet — with pay-as-you-go pricing.”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adapted from the NIST definition of cloud computing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EDEFF1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776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2062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 hardware.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it yourself.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it forever.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352044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E4F2E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3776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IT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2062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someone else's hardware.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while you use it.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away anytime.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989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= choosing "Rent it," at massive scale.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Essential Characteristics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true cloud service has all five — if one is missing, it's not really "cloud."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993392" cy="3749040"/>
          </a:xfrm>
          <a:prstGeom prst="roundRect">
            <a:avLst>
              <a:gd name="adj" fmla="val 4587"/>
            </a:avLst>
          </a:prstGeom>
          <a:solidFill>
            <a:srgbClr val="EAF1F4"/>
          </a:solidFill>
          <a:ln/>
        </p:spPr>
      </p:sp>
      <p:sp>
        <p:nvSpPr>
          <p:cNvPr id="6" name="Shape 4"/>
          <p:cNvSpPr/>
          <p:nvPr/>
        </p:nvSpPr>
        <p:spPr>
          <a:xfrm>
            <a:off x="1545336" y="24231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45336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5468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On-Demand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977640"/>
            <a:ext cx="16642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resources yourself, no human required — like a vending machine, not a shop assistant.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53512" y="2148840"/>
            <a:ext cx="1993392" cy="3749040"/>
          </a:xfrm>
          <a:prstGeom prst="roundRect">
            <a:avLst>
              <a:gd name="adj" fmla="val 4587"/>
            </a:avLst>
          </a:prstGeom>
          <a:solidFill>
            <a:srgbClr val="E4F2ED"/>
          </a:solidFill>
          <a:ln/>
        </p:spPr>
      </p:sp>
      <p:sp>
        <p:nvSpPr>
          <p:cNvPr id="11" name="Shape 9"/>
          <p:cNvSpPr/>
          <p:nvPr/>
        </p:nvSpPr>
        <p:spPr>
          <a:xfrm>
            <a:off x="3675888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7588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315468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 Network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18104" y="3977640"/>
            <a:ext cx="16642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from anywhere, on any device, over standard internet connections.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84064" y="2148840"/>
            <a:ext cx="1993392" cy="3749040"/>
          </a:xfrm>
          <a:prstGeom prst="roundRect">
            <a:avLst>
              <a:gd name="adj" fmla="val 4587"/>
            </a:avLst>
          </a:prstGeom>
          <a:solidFill>
            <a:srgbClr val="EAF1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806440" y="24231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064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221224" y="315468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48656" y="3977640"/>
            <a:ext cx="16642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infrastructure serves many customers — like tenants sharing one apartment building's utilities.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14616" y="2148840"/>
            <a:ext cx="1993392" cy="3749040"/>
          </a:xfrm>
          <a:prstGeom prst="roundRect">
            <a:avLst>
              <a:gd name="adj" fmla="val 4587"/>
            </a:avLst>
          </a:prstGeom>
          <a:solidFill>
            <a:srgbClr val="E4F2ED"/>
          </a:solidFill>
          <a:ln/>
        </p:spPr>
      </p:sp>
      <p:sp>
        <p:nvSpPr>
          <p:cNvPr id="21" name="Shape 19"/>
          <p:cNvSpPr/>
          <p:nvPr/>
        </p:nvSpPr>
        <p:spPr>
          <a:xfrm>
            <a:off x="7936992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3699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51776" y="315468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Elasticity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79208" y="3977640"/>
            <a:ext cx="16642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or down instantly to match demand — like a rubber band, not a fixed pipe.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45168" y="2148840"/>
            <a:ext cx="1993392" cy="3749040"/>
          </a:xfrm>
          <a:prstGeom prst="roundRect">
            <a:avLst>
              <a:gd name="adj" fmla="val 4587"/>
            </a:avLst>
          </a:prstGeom>
          <a:solidFill>
            <a:srgbClr val="EAF1F4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67544" y="24231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067544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482328" y="315468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509760" y="3977640"/>
            <a:ext cx="16642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is tracked and billed automatically — just like an electricity meter.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 · PaaS · SaaS — Who Manages What?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move right, the provider takes over more of the stack — and you give up more control for more convenience.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3774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429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68503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Runtime, Middleware, Data, Applications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434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69087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Virtualization, Servers, Storage, Networking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5623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· Azure VMs · Google Compute Engine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14884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23774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429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68503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Applications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434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69087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Middleware, OS, Virtualization, Servers, Storage, Networking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5623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Heroku · Azure App Service · Google App Engine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55280" y="214884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0" y="23774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3429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368503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&amp; settings only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434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69087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application, runtime, OS, servers, storage, network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5623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· Zoom · Google Docs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554480"/>
            <a:ext cx="3840480" cy="3840480"/>
          </a:xfrm>
          <a:prstGeom prst="ellipse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 DEEP DIVE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4980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9659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rent the raw computing building blocks — virtual machines, storage, and networking — and build everything else yourself.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E4F2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70332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3A"/>
                </a:solidFill>
              </a:rPr>
              <a:t>•  Operating System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3A"/>
                </a:solidFill>
              </a:rPr>
              <a:t>•  Runtime &amp; Middleware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3A"/>
                </a:solidFill>
              </a:rPr>
              <a:t>•  Data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3A"/>
                </a:solidFill>
              </a:rPr>
              <a:t>•  Applications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3A"/>
                </a:solidFill>
              </a:rPr>
              <a:t>•  Security patches on the OS you installed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30632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EAED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70332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Physical servers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Storage hardware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Networking hardware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Virtualization layer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The physical data center itself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521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an empty plot of land with electricity and water already connected — you still build the house yourself.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5852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&amp; S3 · Microsoft Azure Virtual Machines · Google Compute Engine · DigitalOcean Droplets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554480"/>
            <a:ext cx="3840480" cy="384048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 DEEP DIVE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4980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9659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a ready-to-use platform for building and running applications — you bring your code, the provider runs everything underneath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E4F2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70332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3A"/>
                </a:solidFill>
              </a:rPr>
              <a:t>•  Your application code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3A"/>
                </a:solidFill>
              </a:rPr>
              <a:t>•  Your application data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3A"/>
                </a:solidFill>
              </a:rPr>
              <a:t>•  Configuration specific to your app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30632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EAED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70332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Runtime environment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Middleware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Operating System &amp; patching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Servers, storage &amp; networking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Scaling infrastructure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521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a fully-equipped commercial kitchen — the oven, gas line, and utensils are all ready; you just bring your recipe and cook.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5852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Heroku · Microsoft Azure App Service · Google App Engine · AWS Elastic Beanstalk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554480"/>
            <a:ext cx="3840480" cy="3840480"/>
          </a:xfrm>
          <a:prstGeom prst="ellipse">
            <a:avLst/>
          </a:prstGeom>
          <a:solidFill>
            <a:srgbClr val="21295C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 DEEP DIVE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4980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9659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a complete, ready-to-use application over the internet — you bring nothing but your data and your login.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E4F2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70332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3A"/>
                </a:solidFill>
              </a:rPr>
              <a:t>•  Your data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3A"/>
                </a:solidFill>
              </a:rPr>
              <a:t>•  Your account settings &amp; preferences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3A"/>
                </a:solidFill>
              </a:rPr>
              <a:t>•  User access management (who on your team can log in)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30632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EAED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70332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The entire application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Runtime, middleware &amp; OS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Servers, storage &amp; networking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575"/>
                </a:solidFill>
              </a:rPr>
              <a:t>•  Updates, bug fixes &amp; new features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521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at a restaurant — you don't cook, you don't own a kitchen, you don't even see the kitchen. The meal just appears, and you pay for what you ate.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5852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&amp; Google Workspace · Zoom · Salesforce · Netflix · Google Docs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Shared Responsibility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nine layers, every time — only who is responsible for each one changes.</a:t>
            </a:r>
            <a:endParaRPr lang="en-US" sz="125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15600" cy="39776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 / Storage /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61264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88720" y="6108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this layer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06240" y="61264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3E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0" y="6108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 this layer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Public, Private, Hybrid &amp; Community Cloud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about WHO the infrastructure is shared with — separate from the service models above.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2487168" cy="3794760"/>
          </a:xfrm>
          <a:prstGeom prst="roundRect">
            <a:avLst>
              <a:gd name="adj" fmla="val 367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37744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Cloud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15468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 open to any customer, owned &amp; run by a third-party provider.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461772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48646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 · GCP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53949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B8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bus — shared, cheap, anyone can ride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2103120"/>
            <a:ext cx="2487168" cy="3794760"/>
          </a:xfrm>
          <a:prstGeom prst="roundRect">
            <a:avLst>
              <a:gd name="adj" fmla="val 3676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75888" y="237744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Cloud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15468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infrastructure used by a single organization only, on-site or hosted.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461772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48646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bank's internal cloud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53949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B8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car — total control, all yours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2487168" cy="3794760"/>
          </a:xfrm>
          <a:prstGeom prst="roundRect">
            <a:avLst>
              <a:gd name="adj" fmla="val 3676"/>
            </a:avLst>
          </a:prstGeom>
          <a:solidFill>
            <a:srgbClr val="3E6B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7648" y="237744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Cloud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315468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 of private and public, with data &amp; apps moving between them as needed.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461772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48646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on-prem, web app on AWS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327648" y="53949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B8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car for commutes, a cab for trips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78240" y="2103120"/>
            <a:ext cx="2487168" cy="3794760"/>
          </a:xfrm>
          <a:prstGeom prst="roundRect">
            <a:avLst>
              <a:gd name="adj" fmla="val 3676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79408" y="237744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Cloud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979408" y="315468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 for a group of organizations with common concerns (compliance, industry).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979408" y="461772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979408" y="48646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agencies sharing one cloud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979408" y="53949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B8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carpool with neighbors headed the same way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DevOps &amp; Cloud Computing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build, break, and ship things together this semester.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2297</Words>
  <Application>Microsoft Office PowerPoint</Application>
  <PresentationFormat>Widescreen</PresentationFormat>
  <Paragraphs>420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shireen gul</cp:lastModifiedBy>
  <cp:revision>3</cp:revision>
  <dcterms:created xsi:type="dcterms:W3CDTF">2026-09-07T09:53:37Z</dcterms:created>
  <dcterms:modified xsi:type="dcterms:W3CDTF">2026-09-09T07:08:09Z</dcterms:modified>
</cp:coreProperties>
</file>